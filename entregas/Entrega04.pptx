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wmf" ContentType="image/x-wmf"/>
  <Override PartName="/ppt/theme/theme2.xml" ContentType="application/vnd.openxmlformats-officedocument.theme+xml"/>
  <Override PartName="/ppt/slideLayouts/slideLayout10.xml" ContentType="application/vnd.openxmlformats-officedocument.presentationml.slideLayout+xml"/>
  <Override PartName="/ppt/presentation.xml" ContentType="application/vnd.openxmlformats-officedocument.presentationml.presentation.main+xml"/>
  <Override PartName="/ppt/slideLayouts/slideLayout5.xml" ContentType="application/vnd.openxmlformats-officedocument.presentationml.slideLayout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6"/>
  </p:notesMasterIdLst>
  <p:sldIdLst>
    <p:sldId id="256" r:id="rId4"/>
    <p:sldId id="257" r:id="rId5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 /><Relationship Id="rId8" Type="http://schemas.openxmlformats.org/officeDocument/2006/relationships/tableStyles" Target="tableStyles.xml" /><Relationship Id="rId9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6859451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321704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996040678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95152607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1201564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06394367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11442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561926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813393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7E8CCC9-A195-C8A8-2A3B-EDA4A4A0292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4403277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91337095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6523662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3887277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4502243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521711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83214457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5912921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05804538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65628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866180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6946902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3650078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64661154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0520923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49696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5554168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0583249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490178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81771090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6491741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878330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1789640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713545115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28445912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941679055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35598435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98603755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06040602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016393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33348645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922946417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92213749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1437625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60799679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22700044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660944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32493504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5711069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18048375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0187729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047144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7485218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86712251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1950722791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5124433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2758588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7599881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749765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15357237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5533207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77761770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2051134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60159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63359783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0520244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4962457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0602382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4004766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0449428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03998473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097113464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9502326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3728744" name=""/>
          <p:cNvSpPr/>
          <p:nvPr/>
        </p:nvSpPr>
        <p:spPr bwMode="auto">
          <a:xfrm rot="0" flipH="0" flipV="0">
            <a:off x="955" y="364191"/>
            <a:ext cx="12205073" cy="6079191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8235926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241383" y="326837"/>
            <a:ext cx="11688931" cy="1115782"/>
          </a:xfrm>
        </p:spPr>
        <p:txBody>
          <a:bodyPr vertOverflow="overflow" horzOverflow="overflow" vert="horz" wrap="square" lIns="91440" tIns="45720" rIns="91440" bIns="45720" numCol="1" spcCol="0" rtlCol="0" fromWordArt="0" anchor="b" anchorCtr="0" forceAA="0" upright="0" compatLnSpc="0">
            <a:normAutofit/>
          </a:bodyPr>
          <a:lstStyle/>
          <a:p>
            <a:pPr>
              <a:defRPr/>
            </a:pPr>
            <a:r>
              <a:rPr sz="24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REORGANIZAÇÃO DE HORÁRIOS E USO DE SALAS PELAS DISCIPLINAS DE GRADUAÇÃO NO PRÉDIO DA </a:t>
            </a:r>
            <a:r>
              <a:rPr sz="24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FA</a:t>
            </a:r>
            <a:r>
              <a:rPr sz="24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UD</a:t>
            </a:r>
            <a:br>
              <a:rPr lang="en-US" b="0">
                <a:latin typeface="Arial"/>
                <a:ea typeface="Arial"/>
                <a:cs typeface="Arial"/>
              </a:rPr>
            </a:br>
            <a:r>
              <a:rPr lang="en-US" sz="2000" b="0"/>
              <a:t>Sérgio Leandro dos Santos</a:t>
            </a:r>
            <a:endParaRPr b="0"/>
          </a:p>
        </p:txBody>
      </p:sp>
      <p:sp>
        <p:nvSpPr>
          <p:cNvPr id="1404113706" name="Subtitle 2"/>
          <p:cNvSpPr>
            <a:spLocks noGrp="1"/>
          </p:cNvSpPr>
          <p:nvPr>
            <p:ph type="subTitle" idx="1"/>
          </p:nvPr>
        </p:nvSpPr>
        <p:spPr bwMode="auto">
          <a:xfrm flipH="0" flipV="0">
            <a:off x="241383" y="1442621"/>
            <a:ext cx="11772159" cy="2570825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marR="0" indent="0" algn="just">
              <a:lnSpc>
                <a:spcPct val="86000"/>
              </a:lnSpc>
              <a:spcBef>
                <a:spcPts val="999"/>
              </a:spcBef>
              <a:spcAft>
                <a:spcPts val="0"/>
              </a:spcAft>
              <a:buFont typeface="Arial"/>
              <a:buNone/>
              <a:defRPr/>
            </a:pPr>
            <a:r>
              <a:rPr sz="16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Arquitetura, Design de Produto e Design Visual compartilham o mesmo prédio nos três turnos. O trabalho buscou concentrar as disciplinas da Arquitetura no turno da manhã e os cursos de Design pela tarde, todos compartilhando o turno da noite, para facilitar a organização dos horários dos alunos, permitir estágios e usar melhor os espaços. A otimização considerou a grade de cada etapa, a disponibilidade dos professores, a capacidade e o tipo das salas, os turnos-alvo, o intervalo de almoço, o equilíbrio da carga horária entre os dias da semana e a segurança, priorizando o inicio da noite. </a:t>
            </a:r>
            <a:r>
              <a:rPr sz="16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A atividade reorganiza 289 encontros em 23 salas, com foco nas disciplinas de graduação. Depois da parte inicial de analise dos dados e distribuição atuaisdas disciplinas, o modelo de otimização gera três propostas, respeitando capacidade das salas, conflitos de horários e compatibilidade entre turmas. 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Proposta “A” - preservação: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tenta manter a grade o mais parecida possível com a atual, mas reduz primeiro as aulas fora do turno-alvo.</a:t>
            </a:r>
            <a:r>
              <a:rPr sz="16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; “B” 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equilíbrio: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reorganiza os horários para distribuir melhor a carga semanal entre etapas e docentes.</a:t>
            </a:r>
            <a:r>
              <a:rPr sz="16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; “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C” - turnos: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prioriza concentrar a carga horária de cada curso em seu turno-alvo</a:t>
            </a:r>
            <a:r>
              <a:rPr sz="16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. A e C colocam cerca de 99% da carga no turno-alvo, alterando 63 e 68 encontros. B equilibra melhor a semana, mas alcança cerca de 69% no turno-alvo e não teve ótimo comprovado. Nenhuma proposta introduziu novas violações às regras estabelecidas. 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</a:t>
            </a:r>
            <a:endParaRPr lang="en-US"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1840566621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41383" y="4013446"/>
            <a:ext cx="5327548" cy="2279701"/>
          </a:xfrm>
          <a:prstGeom prst="rect">
            <a:avLst/>
          </a:prstGeom>
        </p:spPr>
      </p:pic>
      <p:pic>
        <p:nvPicPr>
          <p:cNvPr id="1333617832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5652159" y="4013446"/>
            <a:ext cx="6361383" cy="227970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2119497" name=""/>
          <p:cNvSpPr/>
          <p:nvPr/>
        </p:nvSpPr>
        <p:spPr bwMode="auto">
          <a:xfrm rot="0" flipH="0" flipV="0">
            <a:off x="954" y="364190"/>
            <a:ext cx="12195735" cy="607919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364195789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701237" y="498242"/>
            <a:ext cx="5751441" cy="2905991"/>
          </a:xfrm>
          <a:prstGeom prst="rect">
            <a:avLst/>
          </a:prstGeom>
        </p:spPr>
      </p:pic>
      <p:pic>
        <p:nvPicPr>
          <p:cNvPr id="17236303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141029" y="1916810"/>
            <a:ext cx="11915588" cy="4330468"/>
          </a:xfrm>
          <a:prstGeom prst="rect">
            <a:avLst/>
          </a:prstGeom>
        </p:spPr>
      </p:pic>
      <p:sp>
        <p:nvSpPr>
          <p:cNvPr id="1625216663" name=""/>
          <p:cNvSpPr/>
          <p:nvPr/>
        </p:nvSpPr>
        <p:spPr bwMode="auto">
          <a:xfrm rot="0" flipH="0" flipV="0">
            <a:off x="2850649" y="1478523"/>
            <a:ext cx="1581334" cy="628834"/>
          </a:xfrm>
          <a:prstGeom prst="irregularSeal2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/>
              <a:t>Click</a:t>
            </a:r>
            <a:endParaRPr/>
          </a:p>
        </p:txBody>
      </p:sp>
      <p:sp>
        <p:nvSpPr>
          <p:cNvPr id="2038347375" name=""/>
          <p:cNvSpPr/>
          <p:nvPr/>
        </p:nvSpPr>
        <p:spPr bwMode="auto">
          <a:xfrm rot="0" flipH="0" flipV="0">
            <a:off x="141029" y="1916810"/>
            <a:ext cx="11915588" cy="4330468"/>
          </a:xfrm>
          <a:prstGeom prst="rect">
            <a:avLst/>
          </a:prstGeom>
          <a:noFill/>
          <a:ln w="38100" cap="flat" cmpd="sng" algn="ctr">
            <a:solidFill>
              <a:schemeClr val="accent1">
                <a:shade val="50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511729436" name=""/>
          <p:cNvCxnSpPr/>
          <p:nvPr/>
        </p:nvCxnSpPr>
        <p:spPr bwMode="auto">
          <a:xfrm flipH="1" flipV="0">
            <a:off x="486543" y="1391396"/>
            <a:ext cx="2642720" cy="485588"/>
          </a:xfrm>
          <a:prstGeom prst="line">
            <a:avLst/>
          </a:prstGeom>
          <a:ln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2365023" name=""/>
          <p:cNvCxnSpPr/>
          <p:nvPr/>
        </p:nvCxnSpPr>
        <p:spPr bwMode="auto">
          <a:xfrm flipH="0" flipV="0">
            <a:off x="3428088" y="1343460"/>
            <a:ext cx="8404411" cy="496171"/>
          </a:xfrm>
          <a:prstGeom prst="line">
            <a:avLst/>
          </a:prstGeom>
          <a:ln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93291520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6552466" y="4094259"/>
            <a:ext cx="180974" cy="238124"/>
          </a:xfrm>
          <a:prstGeom prst="rect">
            <a:avLst/>
          </a:prstGeom>
        </p:spPr>
      </p:pic>
      <p:sp>
        <p:nvSpPr>
          <p:cNvPr id="1736857849" name=""/>
          <p:cNvSpPr/>
          <p:nvPr/>
        </p:nvSpPr>
        <p:spPr bwMode="auto">
          <a:xfrm rot="0" flipH="0" flipV="0">
            <a:off x="6397646" y="3763308"/>
            <a:ext cx="849779" cy="327327"/>
          </a:xfrm>
          <a:prstGeom prst="wedgeRectCallout">
            <a:avLst>
              <a:gd name="adj1" fmla="val -20833"/>
              <a:gd name="adj2" fmla="val 625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/>
              <a:t>Hover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ONLYOFFICE/9.4.0.129</Application>
  <PresentationFormat>On-screen Show (4:3)</PresentationFormat>
  <Paragraphs>0</Paragraphs>
  <Slides>2</Slides>
  <Notes>2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Theme 1</vt:lpstr>
      <vt:lpstr>Slide 1</vt:lpstr>
      <vt:lpstr>Slide 2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6</cp:revision>
  <dcterms:modified xsi:type="dcterms:W3CDTF">2026-10-06T19:03:45Z</dcterms:modified>
</cp:coreProperties>
</file>