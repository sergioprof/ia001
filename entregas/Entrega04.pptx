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31697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959392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7377440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814440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65087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475542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2514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3418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678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784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7570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0734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E8CCC9-A195-C8A8-2A3B-EDA4A4A029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20581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745729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262608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161607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9542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0277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78051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51798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64945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17802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40953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82229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061817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864851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09981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0950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382180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36059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18819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29965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617047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96507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62118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275328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495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4350811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59104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838991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00485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8766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555655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774249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727128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18637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161515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330855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094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625446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282144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953214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178063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22275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4395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826345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876335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98274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3312379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74080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3339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914350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14061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82053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1564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40012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16594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09642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870061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6224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84068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89143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962884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30337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662193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studo-ocupacao-salas.streamlit.app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543630" name=""/>
          <p:cNvSpPr/>
          <p:nvPr/>
        </p:nvSpPr>
        <p:spPr bwMode="auto">
          <a:xfrm rot="0" flipH="0" flipV="0">
            <a:off x="955" y="364191"/>
            <a:ext cx="12205073" cy="607919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6466340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41383" y="326837"/>
            <a:ext cx="11688931" cy="1115782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REORGANIZAÇÃO DE HORÁRIOS E USO DE SALAS PELAS DISCIPLINAS DE GRADUAÇÃO NO PRÉDIO DA </a:t>
            </a:r>
            <a:r>
              <a:rPr sz="2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FA</a:t>
            </a: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UD</a:t>
            </a:r>
            <a:br>
              <a:rPr lang="en-US" b="0">
                <a:latin typeface="Arial"/>
                <a:ea typeface="Arial"/>
                <a:cs typeface="Arial"/>
              </a:rPr>
            </a:br>
            <a:r>
              <a:rPr lang="en-US" sz="2000" b="0"/>
              <a:t>Sérgio Leandro dos Santos - </a:t>
            </a:r>
            <a:r>
              <a:rPr lang="en-US" sz="20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Streamlit App"/>
              </a:rPr>
              <a:t>https://estudo-ocupacao-salas.streamlit.app/</a:t>
            </a:r>
            <a:endParaRPr b="0"/>
          </a:p>
        </p:txBody>
      </p:sp>
      <p:sp>
        <p:nvSpPr>
          <p:cNvPr id="1838460018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41383" y="1442621"/>
            <a:ext cx="11772159" cy="257082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 algn="just">
              <a:lnSpc>
                <a:spcPct val="86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Arquitetura, Design de Produto e Design Visual compartilham o mesmo prédio nos três turnos. O trabalho buscou concentrar as disciplinas da Arquitetura no turno da manhã e os cursos de Design pela tarde, todos compartilhando o turno da noite, para facilitar a organização dos horários dos alunos, permitir estágios e usar melhor os espaços. A otimização considerou a grade de cada etapa, a disponibilidade dos professores, a capacidade e o tipo das salas, os turnos-alvo, o intervalo de almoço, o equilíbrio da carga horária entre os dias da semana e a segurança, priorizando o inicio da noite. 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 atividade reorganiza 289 encontros em 23 salas, com foco nas disciplinas de graduação. Depois da parte inicial de analise dos dados e distribuição atuais das disciplinas, o modelo de otimização gera três propostas, respeitando capacidade das salas, conflitos de horários e compatibilidade entre turmas.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Proposta “A” - preservação: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tenta manter a grade o mais parecida possível com a atual, mas reduz primeiro as aulas fora do turno-alvo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; “B”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equilíbrio: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reorganiza os horários para distribuir melhor a carga semanal entre etapas e docentes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; “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C” - turnos: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prioriza concentrar a carga horária de cada curso em seu turno-alvo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 A e C colocam cerca de 99% da carga no turno-alvo, alterando 63 e 68 encontros. B equilibra melhor a semana, mas alcança cerca de 69% no turno-alvo e não teve ótimo comprovado. Nenhuma proposta introduziu novas violações às regras estabelecidas.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6026838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41383" y="4013446"/>
            <a:ext cx="5327548" cy="2279701"/>
          </a:xfrm>
          <a:prstGeom prst="rect">
            <a:avLst/>
          </a:prstGeom>
        </p:spPr>
      </p:pic>
      <p:pic>
        <p:nvPicPr>
          <p:cNvPr id="64823706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652159" y="4013446"/>
            <a:ext cx="6361383" cy="22797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51834" name=""/>
          <p:cNvSpPr/>
          <p:nvPr/>
        </p:nvSpPr>
        <p:spPr bwMode="auto">
          <a:xfrm rot="0" flipH="0" flipV="0">
            <a:off x="954" y="364190"/>
            <a:ext cx="12195735" cy="607919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2615283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01237" y="498242"/>
            <a:ext cx="5751441" cy="2905991"/>
          </a:xfrm>
          <a:prstGeom prst="rect">
            <a:avLst/>
          </a:prstGeom>
        </p:spPr>
      </p:pic>
      <p:pic>
        <p:nvPicPr>
          <p:cNvPr id="19279299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41029" y="1916810"/>
            <a:ext cx="11915588" cy="4330468"/>
          </a:xfrm>
          <a:prstGeom prst="rect">
            <a:avLst/>
          </a:prstGeom>
        </p:spPr>
      </p:pic>
      <p:sp>
        <p:nvSpPr>
          <p:cNvPr id="2073556400" name=""/>
          <p:cNvSpPr/>
          <p:nvPr/>
        </p:nvSpPr>
        <p:spPr bwMode="auto">
          <a:xfrm rot="0" flipH="0" flipV="0">
            <a:off x="2850649" y="1478523"/>
            <a:ext cx="1581334" cy="62883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Click</a:t>
            </a:r>
            <a:endParaRPr/>
          </a:p>
        </p:txBody>
      </p:sp>
      <p:sp>
        <p:nvSpPr>
          <p:cNvPr id="519266760" name=""/>
          <p:cNvSpPr/>
          <p:nvPr/>
        </p:nvSpPr>
        <p:spPr bwMode="auto">
          <a:xfrm rot="0" flipH="0" flipV="0">
            <a:off x="141029" y="1916810"/>
            <a:ext cx="11915588" cy="4330468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05912753" name=""/>
          <p:cNvCxnSpPr/>
          <p:nvPr/>
        </p:nvCxnSpPr>
        <p:spPr bwMode="auto">
          <a:xfrm flipH="1" flipV="0">
            <a:off x="486543" y="1391396"/>
            <a:ext cx="2642720" cy="485588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699777" name=""/>
          <p:cNvCxnSpPr/>
          <p:nvPr/>
        </p:nvCxnSpPr>
        <p:spPr bwMode="auto">
          <a:xfrm flipH="0" flipV="0">
            <a:off x="3428088" y="1343460"/>
            <a:ext cx="8404411" cy="496171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8662883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552466" y="4094259"/>
            <a:ext cx="180974" cy="238124"/>
          </a:xfrm>
          <a:prstGeom prst="rect">
            <a:avLst/>
          </a:prstGeom>
        </p:spPr>
      </p:pic>
      <p:sp>
        <p:nvSpPr>
          <p:cNvPr id="1153152545" name=""/>
          <p:cNvSpPr/>
          <p:nvPr/>
        </p:nvSpPr>
        <p:spPr bwMode="auto">
          <a:xfrm rot="0" flipH="0" flipV="0">
            <a:off x="6397646" y="3763308"/>
            <a:ext cx="849779" cy="327327"/>
          </a:xfrm>
          <a:prstGeom prst="wedgeRectCallout">
            <a:avLst>
              <a:gd name="adj1" fmla="val -20833"/>
              <a:gd name="adj2" fmla="val 6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Hover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2026-10-08T17:02:24Z</dcterms:modified>
</cp:coreProperties>
</file>